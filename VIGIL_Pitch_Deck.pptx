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🛡️ VIGIL — AI Tier-1 SOC Analyst for Banks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From Alert Zero to a Regulator-Ready Incident File in Under 6 Hours | Forge the Future Hackathon 2026</a:t>
            </a:r>
          </a:p>
        </p:txBody>
      </p:sp>
      <p:sp>
        <p:nvSpPr>
          <p:cNvPr id="3" name="MetricCard 3"/>
          <p:cNvSpPr/>
          <p:nvPr/>
        </p:nvSpPr>
        <p:spPr>
          <a:xfrm>
            <a:off x="731520" y="1400000"/>
            <a:ext cx="258224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38BDF8"/>
                </a:solidFill>
                <a:latin typeface="Helvetica"/>
              </a:rPr>
              <a:t>45 min → 4.2 min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Mean Investigation Time</a:t>
            </a:r>
          </a:p>
        </p:txBody>
      </p:sp>
      <p:sp>
        <p:nvSpPr>
          <p:cNvPr id="4" name="MetricCard 4"/>
          <p:cNvSpPr/>
          <p:nvPr/>
        </p:nvSpPr>
        <p:spPr>
          <a:xfrm>
            <a:off x="3413760" y="1400000"/>
            <a:ext cx="258224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10B981"/>
                </a:solidFill>
                <a:latin typeface="Helvetica"/>
              </a:rPr>
              <a:t>4 hrs → 10 min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CERT-In / RBI Filing</a:t>
            </a:r>
          </a:p>
        </p:txBody>
      </p:sp>
      <p:sp>
        <p:nvSpPr>
          <p:cNvPr id="5" name="MetricCard 5"/>
          <p:cNvSpPr/>
          <p:nvPr/>
        </p:nvSpPr>
        <p:spPr>
          <a:xfrm>
            <a:off x="6096000" y="1400000"/>
            <a:ext cx="258224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F59E0B"/>
                </a:solidFill>
                <a:latin typeface="Helvetica"/>
              </a:rPr>
              <a:t>60% Reduction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False Positives to Analysts</a:t>
            </a:r>
          </a:p>
        </p:txBody>
      </p:sp>
      <p:sp>
        <p:nvSpPr>
          <p:cNvPr id="6" name="MetricCard 6"/>
          <p:cNvSpPr/>
          <p:nvPr/>
        </p:nvSpPr>
        <p:spPr>
          <a:xfrm>
            <a:off x="8778240" y="1400000"/>
            <a:ext cx="258224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A855F7"/>
                </a:solidFill>
                <a:latin typeface="Helvetica"/>
              </a:rPr>
              <a:t>100% Audit-Proof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SHA-256 Evidence Ledger</a:t>
            </a:r>
          </a:p>
        </p:txBody>
      </p:sp>
      <p:sp>
        <p:nvSpPr>
          <p:cNvPr id="7" name="Card 7"/>
          <p:cNvSpPr/>
          <p:nvPr/>
        </p:nvSpPr>
        <p:spPr>
          <a:xfrm>
            <a:off x="731520" y="2450000"/>
            <a:ext cx="347632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38BDF8"/>
                </a:solidFill>
                <a:latin typeface="Helvetica"/>
              </a:rPr>
              <a:t>Theme &amp; Track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Track 03: Security &amp; AI-Powered SOC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Target: Indian BFSI / Banking Enterprise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Submission ID: 6a81eba4c333388e8191f1e8 (Shortlisted)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8" name="Card 8"/>
          <p:cNvSpPr/>
          <p:nvPr/>
        </p:nvSpPr>
        <p:spPr>
          <a:xfrm>
            <a:off x="4307840" y="2450000"/>
            <a:ext cx="347632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10B981"/>
                </a:solidFill>
                <a:latin typeface="Helvetica"/>
              </a:rPr>
              <a:t>Core Stack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Elastic Search AI Platform (ECS + ES|QL + Attack Discovery)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AWS Bedrock (Claude Reasoning Connector)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Sarvam AI (22 Indic Languages Multilingual Briefs)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9" name="Card 9"/>
          <p:cNvSpPr/>
          <p:nvPr/>
        </p:nvSpPr>
        <p:spPr>
          <a:xfrm>
            <a:off x="7884160" y="2450000"/>
            <a:ext cx="347632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F59E0B"/>
                </a:solidFill>
                <a:latin typeface="Helvetica"/>
              </a:rPr>
              <a:t>The Pitch Hook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The failure mode in banking is NOT missing the alert.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It is understanding the incident but breaching the mandatory 6-hour CERT-In filing deadline.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Vigil automates compliance &amp; financial risk.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1. The Problem: The Clock, Not Just the Queue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Indian commercial banks face 50k+ alerts/day and a strict 6-hour reporting window</a:t>
            </a:r>
          </a:p>
        </p:txBody>
      </p:sp>
      <p:sp>
        <p:nvSpPr>
          <p:cNvPr id="3" name="MetricCard 3"/>
          <p:cNvSpPr/>
          <p:nvPr/>
        </p:nvSpPr>
        <p:spPr>
          <a:xfrm>
            <a:off x="731520" y="1400000"/>
            <a:ext cx="347632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EF4444"/>
                </a:solidFill>
                <a:latin typeface="Helvetica"/>
              </a:rPr>
              <a:t>50,000+ / day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Alert Volume in SOC</a:t>
            </a:r>
          </a:p>
        </p:txBody>
      </p:sp>
      <p:sp>
        <p:nvSpPr>
          <p:cNvPr id="4" name="MetricCard 4"/>
          <p:cNvSpPr/>
          <p:nvPr/>
        </p:nvSpPr>
        <p:spPr>
          <a:xfrm>
            <a:off x="4307840" y="1400000"/>
            <a:ext cx="347632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F59E0B"/>
                </a:solidFill>
                <a:latin typeface="Helvetica"/>
              </a:rPr>
              <a:t>6-Hour Mandate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CERT-In &amp; RBI Directions</a:t>
            </a:r>
          </a:p>
        </p:txBody>
      </p:sp>
      <p:sp>
        <p:nvSpPr>
          <p:cNvPr id="5" name="MetricCard 5"/>
          <p:cNvSpPr/>
          <p:nvPr/>
        </p:nvSpPr>
        <p:spPr>
          <a:xfrm>
            <a:off x="7884160" y="1400000"/>
            <a:ext cx="347632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EF4444"/>
                </a:solidFill>
                <a:latin typeface="Helvetica"/>
              </a:rPr>
              <a:t>4+ Hours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Manual Paperwork Time</a:t>
            </a:r>
          </a:p>
        </p:txBody>
      </p:sp>
      <p:sp>
        <p:nvSpPr>
          <p:cNvPr id="6" name="Card 6"/>
          <p:cNvSpPr/>
          <p:nvPr/>
        </p:nvSpPr>
        <p:spPr>
          <a:xfrm>
            <a:off x="731520" y="2450000"/>
            <a:ext cx="347632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EF4444"/>
                </a:solidFill>
                <a:latin typeface="Helvetica"/>
              </a:rPr>
              <a:t>Alert Fatigue &amp; Silos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EF4444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SOC analysts spend 45-60 mins per alert correlating disparate logs.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EF4444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Traditional SIEMs isolate Fraud Desk (UPI/IMPS) from SOC (firewalls/hosts).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EF4444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Overwhelmed analysts miss the forest for the trees.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7" name="Card 7"/>
          <p:cNvSpPr/>
          <p:nvPr/>
        </p:nvSpPr>
        <p:spPr>
          <a:xfrm>
            <a:off x="4307840" y="2450000"/>
            <a:ext cx="347632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F59E0B"/>
                </a:solidFill>
                <a:latin typeface="Helvetica"/>
              </a:rPr>
              <a:t>The 6-Hour Regulatory Trap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CERT-In Directions (Apr 2022) &amp; RBI Cyber Security Framework.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Mandatory reporting of material cyber incidents within 6 hours of noticing.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Failure to file triggers heavy fines and regulatory censure.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8" name="Card 8"/>
          <p:cNvSpPr/>
          <p:nvPr/>
        </p:nvSpPr>
        <p:spPr>
          <a:xfrm>
            <a:off x="7884160" y="2450000"/>
            <a:ext cx="347632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38BDF8"/>
                </a:solidFill>
                <a:latin typeface="Helvetica"/>
              </a:rPr>
              <a:t>The Fatal Failure Mode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The attack is understood after 45 minutes of manual investigation.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Calculating ₹ loss, proving containment &amp; compiling the report takes 5+ hours.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Result: Incident resolved internally but filed late -&gt; Non-compliant!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2. What Elastic Does Natively vs. What Vigil Builds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Building on top of Elastic 2026 Attack Discovery instead of reinventing the wheel</a:t>
            </a:r>
          </a:p>
        </p:txBody>
      </p:sp>
      <p:sp>
        <p:nvSpPr>
          <p:cNvPr id="3" name="Card 3"/>
          <p:cNvSpPr/>
          <p:nvPr/>
        </p:nvSpPr>
        <p:spPr>
          <a:xfrm>
            <a:off x="73152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38BDF8"/>
                </a:solidFill>
                <a:latin typeface="Helvetica"/>
              </a:rPr>
              <a:t>Elastic Platform (Native Base)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Elastic Defend &amp; Fleet: Ingests telemetry into unified ECS schema.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Elastic ML: Detects behavioral baselines &amp; anomalies.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Attack Discovery: Autonomous triage agent collapsing thousands of alerts into validated attack narratives.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4" name="Card 4"/>
          <p:cNvSpPr/>
          <p:nvPr/>
        </p:nvSpPr>
        <p:spPr>
          <a:xfrm>
            <a:off x="609600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10B981"/>
                </a:solidFill>
                <a:latin typeface="Helvetica"/>
              </a:rPr>
              <a:t>VIGIL (Our Proprietary Delta)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1. ₹ Financial Exposure Agent (bank.exposure.lookup) -&gt; Scores money &amp; customers, not just hosts.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2. CERT-In / RBI Reporting Agent (certin.report.draft) -&gt; Submittable Annexure-1 form in 10 mins.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3. Cryptographic Ledger (evidence.ledger.append) -&gt; SHA-256 hash-chained WORM audit trail.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4. Fraud-Security Convergence -&gt; Unified UPI + SOC timeline.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5. Sarvam AI Indic Reporting -&gt; 22 Indian languages.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3. End-to-End System Architecture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Telemetry -&gt; Elastic Search AI -&gt; Vigil 6-Step Orchestrator -&gt; AWS Bedrock / Sarvam -&gt; Outputs</a:t>
            </a:r>
          </a:p>
        </p:txBody>
      </p:sp>
      <p:sp>
        <p:nvSpPr>
          <p:cNvPr id="3" name="Card 3"/>
          <p:cNvSpPr/>
          <p:nvPr/>
        </p:nvSpPr>
        <p:spPr>
          <a:xfrm>
            <a:off x="731520" y="1400000"/>
            <a:ext cx="347632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38BDF8"/>
                </a:solidFill>
                <a:latin typeface="Helvetica"/>
              </a:rPr>
              <a:t>1. Telemetry Ingestion (ECS)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UPI / IMPS Gateway logs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Core Banking CRM &amp; account balances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Endpoint &amp; Auth (Elastic Defend)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Firewall NetFlow &amp; CERT-In CIAD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4" name="Card 4"/>
          <p:cNvSpPr/>
          <p:nvPr/>
        </p:nvSpPr>
        <p:spPr>
          <a:xfrm>
            <a:off x="4307840" y="1400000"/>
            <a:ext cx="347632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10B981"/>
                </a:solidFill>
                <a:latin typeface="Helvetica"/>
              </a:rPr>
              <a:t>2. Vigil 6-Step Workflow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1. RBI Materiality Classification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2. ES|QL Grounded Evidence Retrieval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3. ₹ Financial Blast Radius Scoring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4. Containment (HITL Approval Gate)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5. CERT-In Annexure-1 Report Draft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6. Cryptographic Evidence Sealing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5" name="Card 5"/>
          <p:cNvSpPr/>
          <p:nvPr/>
        </p:nvSpPr>
        <p:spPr>
          <a:xfrm>
            <a:off x="7884160" y="1400000"/>
            <a:ext cx="347632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A855F7"/>
                </a:solidFill>
                <a:latin typeface="Helvetica"/>
              </a:rPr>
              <a:t>3. Cloud &amp; Output Deliverables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AWS Bedrock (Claude LLM connector)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Sarvam AI (22 Indic languages)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AWS S3 Object Lock + KMS (ap-south-1)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SOC Cockpit UI with live 6-hr countdown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Downloadable official CERT-In PDF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4. The 6-Step Deterministic Agentic Workflow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Grounded, deterministic, and verifiable investigation with zero hallucination</a:t>
            </a:r>
          </a:p>
        </p:txBody>
      </p:sp>
      <p:sp>
        <p:nvSpPr>
          <p:cNvPr id="3" name="Card 3"/>
          <p:cNvSpPr/>
          <p:nvPr/>
        </p:nvSpPr>
        <p:spPr>
          <a:xfrm>
            <a:off x="73152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38BDF8"/>
                </a:solidFill>
                <a:latin typeface="Helvetica"/>
              </a:rPr>
              <a:t>Steps 1 to 3: Detect &amp; Scope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Step 1: RBI Materiality Check -&gt; Checks threshold (&gt; ₹5 Lakhs loss, core banking outage).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Step 2: ES|QL Evidence Retrieval -&gt; Piped queries across auth, network, and UPI logs.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Step 3: ₹ Business Exposure Lookup -&gt; Computes direct loss, corporate/HNI blast radius.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4" name="Card 4"/>
          <p:cNvSpPr/>
          <p:nvPr/>
        </p:nvSpPr>
        <p:spPr>
          <a:xfrm>
            <a:off x="609600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10B981"/>
                </a:solidFill>
                <a:latin typeface="Helvetica"/>
              </a:rPr>
              <a:t>Steps 4 to 6: Contain &amp; File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Step 4: Containment Action (HITL) -&gt; 1-click token revocation &amp; UPI batch freeze.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Step 5: CERT-In Report Generation -&gt; Official Annexure-1 form + Sarvam Indic brief.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Step 6: Cryptographic Sealing -&gt; SHA-256 hash-chaining in S3 WORM storage.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5. Rupee (₹) Business Exposure vs. Technical Risk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Translating technical SIEM alerts into actionable board-level financial decisions</a:t>
            </a:r>
          </a:p>
        </p:txBody>
      </p:sp>
      <p:sp>
        <p:nvSpPr>
          <p:cNvPr id="3" name="MetricCard 3"/>
          <p:cNvSpPr/>
          <p:nvPr/>
        </p:nvSpPr>
        <p:spPr>
          <a:xfrm>
            <a:off x="731520" y="1400000"/>
            <a:ext cx="347632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EF4444"/>
                </a:solidFill>
                <a:latin typeface="Helvetica"/>
              </a:rPr>
              <a:t>₹ 1,82,40,000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Direct Financial Risk</a:t>
            </a:r>
          </a:p>
        </p:txBody>
      </p:sp>
      <p:sp>
        <p:nvSpPr>
          <p:cNvPr id="4" name="MetricCard 4"/>
          <p:cNvSpPr/>
          <p:nvPr/>
        </p:nvSpPr>
        <p:spPr>
          <a:xfrm>
            <a:off x="4307840" y="1400000"/>
            <a:ext cx="347632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F59E0B"/>
                </a:solidFill>
                <a:latin typeface="Helvetica"/>
              </a:rPr>
              <a:t>18 Accounts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Blast Radius (14 HNI, 4 Corp)</a:t>
            </a:r>
          </a:p>
        </p:txBody>
      </p:sp>
      <p:sp>
        <p:nvSpPr>
          <p:cNvPr id="5" name="MetricCard 5"/>
          <p:cNvSpPr/>
          <p:nvPr/>
        </p:nvSpPr>
        <p:spPr>
          <a:xfrm>
            <a:off x="7884160" y="1400000"/>
            <a:ext cx="347632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10B981"/>
                </a:solidFill>
                <a:latin typeface="Helvetica"/>
              </a:rPr>
              <a:t>₹ 1.00 Crore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Penalty Exposure Avoided</a:t>
            </a:r>
          </a:p>
        </p:txBody>
      </p:sp>
      <p:sp>
        <p:nvSpPr>
          <p:cNvPr id="6" name="Card 6"/>
          <p:cNvSpPr/>
          <p:nvPr/>
        </p:nvSpPr>
        <p:spPr>
          <a:xfrm>
            <a:off x="731520" y="2450000"/>
            <a:ext cx="526448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94A3B8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94A3B8"/>
                </a:solidFill>
                <a:latin typeface="Helvetica"/>
              </a:rPr>
              <a:t>Traditional SIEM Output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94A3B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Alert: Host srv-db-04 compromised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94A3B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User: svc_payment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94A3B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Technical Risk Score: 88/100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94A3B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Impact: Unknown to CFO / Compliance team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7" name="Card 7"/>
          <p:cNvSpPr/>
          <p:nvPr/>
        </p:nvSpPr>
        <p:spPr>
          <a:xfrm>
            <a:off x="6096000" y="2450000"/>
            <a:ext cx="526448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10B981"/>
                </a:solidFill>
                <a:latin typeface="Helvetica"/>
              </a:rPr>
              <a:t>VIGIL Business Risk Output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Direct Financial Loss: ₹ 1.82 Crore pending in Bulk UPI batch.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Customer Exposure: 4 Corporate payroll accounts + 14 HNI accounts.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Regulatory Action: Mandated CERT-In filing under RBI Section 4.2.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Decision: Containment executed before batch settlement completes.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6. Fraud-Security Convergence &amp; Sarvam Indic AI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Breaking enterprise silos and making incident response accessible across India</a:t>
            </a:r>
          </a:p>
        </p:txBody>
      </p:sp>
      <p:sp>
        <p:nvSpPr>
          <p:cNvPr id="3" name="Card 3"/>
          <p:cNvSpPr/>
          <p:nvPr/>
        </p:nvSpPr>
        <p:spPr>
          <a:xfrm>
            <a:off x="73152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38BDF8"/>
                </a:solidFill>
                <a:latin typeface="Helvetica"/>
              </a:rPr>
              <a:t>Fraud + Security Convergence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Breaks the silo between the Bank's Fraud Desk and Cybersecurity SOC.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Normalizes UPI transaction telemetry and firewall/auth logs into a single ECS index.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Detects complex attack chains where credential theft directly leads to unauthorized payment batching.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4" name="Card 4"/>
          <p:cNvSpPr/>
          <p:nvPr/>
        </p:nvSpPr>
        <p:spPr>
          <a:xfrm>
            <a:off x="609600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F59E0B"/>
                </a:solidFill>
                <a:latin typeface="Helvetica"/>
              </a:rPr>
              <a:t>Sarvam AI Regional Enablement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Translates incident executive summary into 22 Indian languages.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Empowers regional branch managers and compliance officers in Tier-2/Tier-3 cities.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F59E0B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Enables non-English speaking regional authorities to review and sign off on incidents locally.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7. Tamper-Evident Evidence Ledger (Audit-Ready)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Independent cryptographic audit defensibility years after an incident occurs</a:t>
            </a:r>
          </a:p>
        </p:txBody>
      </p:sp>
      <p:sp>
        <p:nvSpPr>
          <p:cNvPr id="3" name="Card 3"/>
          <p:cNvSpPr/>
          <p:nvPr/>
        </p:nvSpPr>
        <p:spPr>
          <a:xfrm>
            <a:off x="73152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A855F7"/>
                </a:solidFill>
                <a:latin typeface="Helvetica"/>
              </a:rPr>
              <a:t>SHA-256 Hash Chain Structure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Block #101: Initial Alert Narrative (Hash: 0x7a3f...)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Block #102: ES|QL Queries &amp; Raw ECS Records (Hash: 0x9c41...)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Block #103: ₹ Risk &amp; Core Banking Context (Hash: 0x1f8e...)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Block #104: Human Analyst Containment Approval (Hash: 0x3d2b...)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A855F7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Block #105: Sealed CERT-In Regulatory Filing (Hash: 0x8e5a...)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4" name="Card 4"/>
          <p:cNvSpPr/>
          <p:nvPr/>
        </p:nvSpPr>
        <p:spPr>
          <a:xfrm>
            <a:off x="609600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10B981"/>
                </a:solidFill>
                <a:latin typeface="Helvetica"/>
              </a:rPr>
              <a:t>Compliance &amp; WORM Storage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AWS S3 Object Lock (Write Once Read Many) guarantees data immutability.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AWS KMS digital signatures verify analyst identity.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Deployed in ap-south-1 (Mumbai) to strictly meet RBI data-localization laws.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Provides 100% audit defensibility during annual RBI inspections.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8. Measurable Business &amp; Compliance Impact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Transforming the SOC from a cost center into a regulatory shield</a:t>
            </a:r>
          </a:p>
        </p:txBody>
      </p:sp>
      <p:sp>
        <p:nvSpPr>
          <p:cNvPr id="3" name="MetricCard 3"/>
          <p:cNvSpPr/>
          <p:nvPr/>
        </p:nvSpPr>
        <p:spPr>
          <a:xfrm>
            <a:off x="731520" y="1400000"/>
            <a:ext cx="258224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38BDF8"/>
                </a:solidFill>
                <a:latin typeface="Helvetica"/>
              </a:rPr>
              <a:t>90% Faster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Mean Investigation Time</a:t>
            </a:r>
          </a:p>
        </p:txBody>
      </p:sp>
      <p:sp>
        <p:nvSpPr>
          <p:cNvPr id="4" name="MetricCard 4"/>
          <p:cNvSpPr/>
          <p:nvPr/>
        </p:nvSpPr>
        <p:spPr>
          <a:xfrm>
            <a:off x="3413760" y="1400000"/>
            <a:ext cx="258224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10B981"/>
                </a:solidFill>
                <a:latin typeface="Helvetica"/>
              </a:rPr>
              <a:t>95% Reduction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Regulatory Filing Time</a:t>
            </a:r>
          </a:p>
        </p:txBody>
      </p:sp>
      <p:sp>
        <p:nvSpPr>
          <p:cNvPr id="5" name="MetricCard 5"/>
          <p:cNvSpPr/>
          <p:nvPr/>
        </p:nvSpPr>
        <p:spPr>
          <a:xfrm>
            <a:off x="6096000" y="1400000"/>
            <a:ext cx="258224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F59E0B"/>
                </a:solidFill>
                <a:latin typeface="Helvetica"/>
              </a:rPr>
              <a:t>Zero Breaches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6-Hour Regulatory Violations</a:t>
            </a:r>
          </a:p>
        </p:txBody>
      </p:sp>
      <p:sp>
        <p:nvSpPr>
          <p:cNvPr id="6" name="MetricCard 6"/>
          <p:cNvSpPr/>
          <p:nvPr/>
        </p:nvSpPr>
        <p:spPr>
          <a:xfrm>
            <a:off x="8778240" y="1400000"/>
            <a:ext cx="2582240" cy="9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txBody>
          <a:bodyPr vert="horz" lIns="100000" tIns="100000" rIns="100000" bIns="100000" anchor="ctr"/>
          <a:lstStyle/>
          <a:p>
            <a:pPr algn="ctr"/>
            <a:r>
              <a:rPr lang="en-US" sz="2400" b="1">
                <a:solidFill>
                  <a:srgbClr val="A855F7"/>
                </a:solidFill>
                <a:latin typeface="Helvetica"/>
              </a:rPr>
              <a:t>100% Visibility</a:t>
            </a:r>
          </a:p>
          <a:p>
            <a:pPr algn="ctr"/>
            <a:r>
              <a:rPr lang="en-US" sz="1100">
                <a:solidFill>
                  <a:srgbClr val="E2E8F0"/>
                </a:solidFill>
                <a:latin typeface="Helvetica"/>
              </a:rPr>
              <a:t>₹ INR Financial Risk</a:t>
            </a:r>
          </a:p>
        </p:txBody>
      </p:sp>
      <p:sp>
        <p:nvSpPr>
          <p:cNvPr id="7" name="Card 7"/>
          <p:cNvSpPr/>
          <p:nvPr/>
        </p:nvSpPr>
        <p:spPr>
          <a:xfrm>
            <a:off x="731520" y="2450000"/>
            <a:ext cx="526448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EF4444"/>
                </a:solidFill>
                <a:latin typeface="Helvetica"/>
              </a:rPr>
              <a:t>Before VIGIL (Manual SOC)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EF4444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Investigation takes 45-60 mins per incident.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EF4444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Drafting CERT-In reports takes 4-6 hours.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EF4444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Financial risk is unquantified during the incident.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EF4444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High risk of missing the 6-hour regulatory window.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8" name="Card 8"/>
          <p:cNvSpPr/>
          <p:nvPr/>
        </p:nvSpPr>
        <p:spPr>
          <a:xfrm>
            <a:off x="6096000" y="2450000"/>
            <a:ext cx="5264480" cy="3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10B981"/>
                </a:solidFill>
                <a:latin typeface="Helvetica"/>
              </a:rPr>
              <a:t>With VIGIL (AI SOC Analyst)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Investigation automated in &lt; 5 mins via ES|QL.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Official CERT-In Annexure-1 report generated in &lt; 10 mins.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Exact ₹ exposure calculated in real-time.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Zero regulatory breaches + tamper-evident audit proof.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en-US" sz="2800" b="1">
                <a:solidFill>
                  <a:srgbClr val="38BDF8"/>
                </a:solidFill>
                <a:latin typeface="Helvetica"/>
              </a:rPr>
              <a:t>9. Hackathon Strategy &amp; Team Execution Plan</a:t>
            </a:r>
          </a:p>
          <a:p>
            <a:r>
              <a:rPr lang="en-US" sz="1400" i="1">
                <a:solidFill>
                  <a:srgbClr val="94A3B8"/>
                </a:solidFill>
                <a:latin typeface="Helvetica"/>
              </a:rPr>
              <a:t>Maximizing score across all 5 evaluation pillars for the Grand Finale</a:t>
            </a:r>
          </a:p>
        </p:txBody>
      </p:sp>
      <p:sp>
        <p:nvSpPr>
          <p:cNvPr id="3" name="Card 3"/>
          <p:cNvSpPr/>
          <p:nvPr/>
        </p:nvSpPr>
        <p:spPr>
          <a:xfrm>
            <a:off x="73152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38BDF8"/>
                </a:solidFill>
                <a:latin typeface="Helvetica"/>
              </a:rPr>
              <a:t>Judging Criteria Coverage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Technical Implementation (30%): Elastic ECS, ES|QL, Bedrock, S3 WORM.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Innovation (25%): 6-hour regulatory automation &amp; fraud-SOC convergence.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Impact (20%): Real-world Indian BFSI compliance (CERT-In / RBI).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User Experience (15%): Real-time dark-themed SOC Cockpit UI.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38BDF8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Presentation (10%): Live simulated attack resolved in 90 seconds.</a:t>
            </a:r>
          </a:p>
          <a:p>
            <a:pPr>
              <a:spcBef>
                <a:spcPts val="600"/>
              </a:spcBef>
            </a:pPr>
          </a:p>
        </p:txBody>
      </p:sp>
      <p:sp>
        <p:nvSpPr>
          <p:cNvPr id="4" name="Card 4"/>
          <p:cNvSpPr/>
          <p:nvPr/>
        </p:nvSpPr>
        <p:spPr>
          <a:xfrm>
            <a:off x="6096000" y="1400000"/>
            <a:ext cx="5264480" cy="490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vert="horz" lIns="200000" tIns="200000" rIns="200000" bIns="200000"/>
          <a:lstStyle/>
          <a:p>
            <a:r>
              <a:rPr lang="en-US" sz="1600" b="1">
                <a:solidFill>
                  <a:srgbClr val="10B981"/>
                </a:solidFill>
                <a:latin typeface="Helvetica"/>
              </a:rPr>
              <a:t>Execution Milestones</a:t>
            </a:r>
          </a:p>
          <a:p>
            <a:pPr>
              <a:spcBef>
                <a:spcPts val="8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Milestone 1: Backend scaffolding &amp; 30-day ECS dataset generation.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Milestone 2: 6-Step agentic pipeline &amp; ₹ exposure engine.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Milestone 3: React SOC Cockpit UI &amp; ES|QL inspector.</a:t>
            </a:r>
          </a:p>
          <a:p>
            <a:pPr>
              <a:spcBef>
                <a:spcPts val="600"/>
              </a:spcBef>
            </a:pPr>
          </a:p>
          <a:p>
            <a:pPr marL="200000" indent="-200000">
              <a:buClr>
                <a:srgbClr val="10B981"/>
              </a:buClr>
              <a:buChar char="•"/>
            </a:pPr>
            <a:r>
              <a:rPr lang="en-US" sz="1300">
                <a:solidFill>
                  <a:srgbClr val="F8FAFC"/>
                </a:solidFill>
                <a:latin typeface="Helvetica"/>
              </a:rPr>
              <a:t>Milestone 4: End-to-end live attack scenario testing &amp; PDF export.</a:t>
            </a:r>
          </a:p>
          <a:p>
            <a:pPr>
              <a:spcBef>
                <a:spcPts val="60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gil Dark Theme">
  <a:themeElements>
    <a:clrScheme name="Vigil">
      <a:dk1>
        <a:srgbClr val="0B1120"/>
      </a:dk1>
      <a:lt1>
        <a:srgbClr val="F8FAFC"/>
      </a:lt1>
      <a:dk2>
        <a:srgbClr val="1E293B"/>
      </a:dk2>
      <a:lt2>
        <a:srgbClr val="E2E8F0"/>
      </a:lt2>
      <a:accent1>
        <a:srgbClr val="38BDF8"/>
      </a:accent1>
      <a:accent2>
        <a:srgbClr val="10B981"/>
      </a:accent2>
      <a:accent3>
        <a:srgbClr val="F59E0B"/>
      </a:accent3>
      <a:accent4>
        <a:srgbClr val="EF4444"/>
      </a:accent4>
      <a:accent5>
        <a:srgbClr val="A855F7"/>
      </a:accent5>
      <a:accent6>
        <a:srgbClr val="64748B"/>
      </a:accent6>
      <a:hlink>
        <a:srgbClr val="38BDF8"/>
      </a:hlink>
      <a:folHlink>
        <a:srgbClr val="A855F7"/>
      </a:folHlink>
    </a:clrScheme>
    <a:fontScheme name="Vigil Fonts">
      <a:majorFont>
        <a:latin typeface="Helvetica"/>
      </a:majorFont>
      <a:minorFont>
        <a:latin typeface="Helvetica"/>
      </a:minorFont>
    </a:fontScheme>
    <a:fmtScheme name="Vigil Format">
      <a:fillStyleLst>
        <a:solidFill>
          <a:srgbClr val="0B1120"/>
        </a:solidFill>
      </a:fillStyleLst>
      <a:lnStyleLst>
        <a:ln w="9525">
          <a:solidFill>
            <a:srgbClr val="38BDF8"/>
          </a:solidFill>
        </a:ln>
      </a:lnStyleLst>
      <a:effectStyleLst>
        <a:effectStyle>
          <a:effectLst/>
        </a:effectStyle>
      </a:effectStyleLst>
      <a:bgFillStyleLst>
        <a:solidFill>
          <a:srgbClr val="0B1120"/>
        </a:solidFill>
      </a:bgFillStyleLst>
    </a:fmtScheme>
  </a:themeElements>
</a:theme>
</file>